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Plus Jakarta Sans" panose="020B0604020202020204" charset="0"/>
      <p:regular r:id="rId15"/>
      <p:bold r:id="rId16"/>
      <p:italic r:id="rId17"/>
      <p:boldItalic r:id="rId18"/>
    </p:embeddedFont>
    <p:embeddedFont>
      <p:font typeface="Space Grotesk" panose="020B0604020202020204" charset="0"/>
      <p:regular r:id="rId19"/>
      <p:bold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221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609600" y="4698652"/>
            <a:ext cx="10972800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609600" y="1502122"/>
            <a:ext cx="2162175" cy="285750"/>
          </a:xfrm>
          <a:prstGeom prst="roundRect">
            <a:avLst>
              <a:gd name="adj" fmla="val 50000"/>
            </a:avLst>
          </a:prstGeom>
          <a:solidFill>
            <a:srgbClr val="0A283F"/>
          </a:solidFill>
          <a:ln w="9525" cap="flat" cmpd="sng">
            <a:solidFill>
              <a:srgbClr val="1745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609600" y="4698652"/>
            <a:ext cx="109728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/>
          <p:nvPr/>
        </p:nvSpPr>
        <p:spPr>
          <a:xfrm>
            <a:off x="3000375" y="5012977"/>
            <a:ext cx="9525" cy="304800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/>
          <p:nvPr/>
        </p:nvSpPr>
        <p:spPr>
          <a:xfrm>
            <a:off x="6505575" y="5012977"/>
            <a:ext cx="9525" cy="304800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609600" y="2016472"/>
            <a:ext cx="9501187" cy="1139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FIFA 2026 Player &amp; Club Performance Analytics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609600" y="4124019"/>
            <a:ext cx="3405187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i="0" u="none" strike="noStrike" cap="none" dirty="0">
                <a:solidFill>
                  <a:schemeClr val="bg2">
                    <a:lumMod val="40000"/>
                    <a:lumOff val="60000"/>
                  </a:schemeClr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Presented by Rasika Pawar</a:t>
            </a:r>
            <a:endParaRPr dirty="0">
              <a:solidFill>
                <a:schemeClr val="bg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609600" y="3384202"/>
            <a:ext cx="75247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 end-to-end data analytics framework converting 13K match records into actionable management insights, performance scoring models, and club benchmarking.</a:t>
            </a:r>
            <a:endParaRPr dirty="0"/>
          </a:p>
        </p:txBody>
      </p:sp>
      <p:sp>
        <p:nvSpPr>
          <p:cNvPr id="92" name="Google Shape;92;p13"/>
          <p:cNvSpPr txBox="1"/>
          <p:nvPr/>
        </p:nvSpPr>
        <p:spPr>
          <a:xfrm>
            <a:off x="762000" y="1559272"/>
            <a:ext cx="195262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EXECUTIVE PRESENTATION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2886075" y="1559272"/>
            <a:ext cx="1940718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SQL • Python • Power BI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609600" y="4974877"/>
            <a:ext cx="2607468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DATASET SCOPE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609600" y="5155852"/>
            <a:ext cx="2607468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229 Players | 13K Match Logs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3314700" y="4974877"/>
            <a:ext cx="3607593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CORE DELIVERABLE</a:t>
            </a:r>
            <a:endParaRPr/>
          </a:p>
        </p:txBody>
      </p:sp>
      <p:sp>
        <p:nvSpPr>
          <p:cNvPr id="97" name="Google Shape;97;p13"/>
          <p:cNvSpPr txBox="1"/>
          <p:nvPr/>
        </p:nvSpPr>
        <p:spPr>
          <a:xfrm>
            <a:off x="3314700" y="5155852"/>
            <a:ext cx="3607593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3-Page Interactive Power BI Dashboard</a:t>
            </a:r>
            <a:endParaRPr/>
          </a:p>
        </p:txBody>
      </p:sp>
      <p:sp>
        <p:nvSpPr>
          <p:cNvPr id="98" name="Google Shape;98;p13"/>
          <p:cNvSpPr txBox="1"/>
          <p:nvPr/>
        </p:nvSpPr>
        <p:spPr>
          <a:xfrm>
            <a:off x="6819900" y="4974877"/>
            <a:ext cx="4369593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TECHNICAL STACK</a:t>
            </a:r>
            <a:endParaRPr/>
          </a:p>
        </p:txBody>
      </p:sp>
      <p:sp>
        <p:nvSpPr>
          <p:cNvPr id="99" name="Google Shape;99;p13"/>
          <p:cNvSpPr txBox="1"/>
          <p:nvPr/>
        </p:nvSpPr>
        <p:spPr>
          <a:xfrm>
            <a:off x="6819900" y="5155852"/>
            <a:ext cx="4369593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SQL • Python (Pandas/NumPy) • Power BI (DAX)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4"/>
          <p:cNvSpPr/>
          <p:nvPr/>
        </p:nvSpPr>
        <p:spPr>
          <a:xfrm>
            <a:off x="609600" y="1428750"/>
            <a:ext cx="2600325" cy="4972050"/>
          </a:xfrm>
          <a:prstGeom prst="roundRect">
            <a:avLst>
              <a:gd name="adj" fmla="val 4395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4"/>
          <p:cNvSpPr/>
          <p:nvPr/>
        </p:nvSpPr>
        <p:spPr>
          <a:xfrm>
            <a:off x="3400425" y="1428750"/>
            <a:ext cx="2600325" cy="4972050"/>
          </a:xfrm>
          <a:prstGeom prst="roundRect">
            <a:avLst>
              <a:gd name="adj" fmla="val 4395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/>
          <p:nvPr/>
        </p:nvSpPr>
        <p:spPr>
          <a:xfrm>
            <a:off x="6191250" y="1428750"/>
            <a:ext cx="2600325" cy="4972050"/>
          </a:xfrm>
          <a:prstGeom prst="roundRect">
            <a:avLst>
              <a:gd name="adj" fmla="val 4395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/>
          <p:nvPr/>
        </p:nvSpPr>
        <p:spPr>
          <a:xfrm>
            <a:off x="8982075" y="1428750"/>
            <a:ext cx="2600325" cy="4972050"/>
          </a:xfrm>
          <a:prstGeom prst="roundRect">
            <a:avLst>
              <a:gd name="adj" fmla="val 4395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5825" y="170497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76650" y="170497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67475" y="170497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258300" y="170497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00125" y="1809750"/>
            <a:ext cx="1524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790950" y="1809750"/>
            <a:ext cx="1524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572250" y="1809750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4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382125" y="1809750"/>
            <a:ext cx="1333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TECHNICAL FRAMEWORK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End-to-End Data Analytics Pipeline Architecture</a:t>
            </a:r>
            <a:endParaRPr/>
          </a:p>
        </p:txBody>
      </p:sp>
      <p:sp>
        <p:nvSpPr>
          <p:cNvPr id="118" name="Google Shape;118;p14"/>
          <p:cNvSpPr txBox="1"/>
          <p:nvPr/>
        </p:nvSpPr>
        <p:spPr>
          <a:xfrm>
            <a:off x="885825" y="2276475"/>
            <a:ext cx="2687835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1. SQL Layer</a:t>
            </a:r>
            <a:endParaRPr/>
          </a:p>
        </p:txBody>
      </p:sp>
      <p:sp>
        <p:nvSpPr>
          <p:cNvPr id="119" name="Google Shape;119;p14"/>
          <p:cNvSpPr txBox="1"/>
          <p:nvPr/>
        </p:nvSpPr>
        <p:spPr>
          <a:xfrm>
            <a:off x="885825" y="2638425"/>
            <a:ext cx="2143125" cy="1071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Structured data extraction across match tables, complex joins, positional groupings, and multi-table aggregations.</a:t>
            </a:r>
            <a:endParaRPr/>
          </a:p>
        </p:txBody>
      </p:sp>
      <p:sp>
        <p:nvSpPr>
          <p:cNvPr id="120" name="Google Shape;120;p14"/>
          <p:cNvSpPr txBox="1"/>
          <p:nvPr/>
        </p:nvSpPr>
        <p:spPr>
          <a:xfrm>
            <a:off x="3676650" y="2276475"/>
            <a:ext cx="2687835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2. Python Layer</a:t>
            </a:r>
            <a:endParaRPr/>
          </a:p>
        </p:txBody>
      </p:sp>
      <p:sp>
        <p:nvSpPr>
          <p:cNvPr id="121" name="Google Shape;121;p14"/>
          <p:cNvSpPr txBox="1"/>
          <p:nvPr/>
        </p:nvSpPr>
        <p:spPr>
          <a:xfrm>
            <a:off x="3676650" y="2638425"/>
            <a:ext cx="2143125" cy="1071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Pandas and NumPy for data cleaning, per-90 metric calculation, performance scoring algorithms, and tier classification.</a:t>
            </a:r>
            <a:endParaRPr/>
          </a:p>
        </p:txBody>
      </p:sp>
      <p:sp>
        <p:nvSpPr>
          <p:cNvPr id="122" name="Google Shape;122;p14"/>
          <p:cNvSpPr txBox="1"/>
          <p:nvPr/>
        </p:nvSpPr>
        <p:spPr>
          <a:xfrm>
            <a:off x="6467475" y="2276475"/>
            <a:ext cx="2687835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3. Power BI Layer</a:t>
            </a:r>
            <a:endParaRPr/>
          </a:p>
        </p:txBody>
      </p:sp>
      <p:sp>
        <p:nvSpPr>
          <p:cNvPr id="123" name="Google Shape;123;p14"/>
          <p:cNvSpPr txBox="1"/>
          <p:nvPr/>
        </p:nvSpPr>
        <p:spPr>
          <a:xfrm>
            <a:off x="6467475" y="2638425"/>
            <a:ext cx="2143125" cy="1071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Interactive 3-page dashboard built with DAX measures, cross-filtering, dynamic slicers, and positional breakdown.</a:t>
            </a:r>
            <a:endParaRPr/>
          </a:p>
        </p:txBody>
      </p:sp>
      <p:sp>
        <p:nvSpPr>
          <p:cNvPr id="124" name="Google Shape;124;p14"/>
          <p:cNvSpPr txBox="1"/>
          <p:nvPr/>
        </p:nvSpPr>
        <p:spPr>
          <a:xfrm>
            <a:off x="9258300" y="2276475"/>
            <a:ext cx="2687835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4. Management Value</a:t>
            </a:r>
            <a:endParaRPr/>
          </a:p>
        </p:txBody>
      </p:sp>
      <p:sp>
        <p:nvSpPr>
          <p:cNvPr id="125" name="Google Shape;125;p14"/>
          <p:cNvSpPr txBox="1"/>
          <p:nvPr/>
        </p:nvSpPr>
        <p:spPr>
          <a:xfrm>
            <a:off x="9258300" y="2638425"/>
            <a:ext cx="2143125" cy="1071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Translating raw performance records into squad recruitment, positional efficiency, and club benchmarking insights.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5"/>
          <p:cNvSpPr/>
          <p:nvPr/>
        </p:nvSpPr>
        <p:spPr>
          <a:xfrm>
            <a:off x="609600" y="2157412"/>
            <a:ext cx="4000500" cy="1057275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5"/>
          <p:cNvSpPr/>
          <p:nvPr/>
        </p:nvSpPr>
        <p:spPr>
          <a:xfrm>
            <a:off x="609600" y="3367087"/>
            <a:ext cx="4000500" cy="885825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5"/>
          <p:cNvSpPr/>
          <p:nvPr/>
        </p:nvSpPr>
        <p:spPr>
          <a:xfrm>
            <a:off x="609600" y="4405312"/>
            <a:ext cx="4000500" cy="1057275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/>
          <p:cNvSpPr/>
          <p:nvPr/>
        </p:nvSpPr>
        <p:spPr>
          <a:xfrm>
            <a:off x="609600" y="2157412"/>
            <a:ext cx="38100" cy="105727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/>
          <p:cNvSpPr/>
          <p:nvPr/>
        </p:nvSpPr>
        <p:spPr>
          <a:xfrm>
            <a:off x="609600" y="3367087"/>
            <a:ext cx="38100" cy="8858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5"/>
          <p:cNvSpPr/>
          <p:nvPr/>
        </p:nvSpPr>
        <p:spPr>
          <a:xfrm>
            <a:off x="609600" y="4405312"/>
            <a:ext cx="38100" cy="105727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5"/>
          <p:cNvSpPr txBox="1"/>
          <p:nvPr/>
        </p:nvSpPr>
        <p:spPr>
          <a:xfrm>
            <a:off x="609600" y="647700"/>
            <a:ext cx="1158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Page 1 — Executive Overview: Overall Performance Landscape</a:t>
            </a:r>
            <a:endParaRPr/>
          </a:p>
        </p:txBody>
      </p:sp>
      <p:sp>
        <p:nvSpPr>
          <p:cNvPr id="140" name="Google Shape;140;p15"/>
          <p:cNvSpPr txBox="1"/>
          <p:nvPr/>
        </p:nvSpPr>
        <p:spPr>
          <a:xfrm>
            <a:off x="838200" y="2309812"/>
            <a:ext cx="4700587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Core KPI Macro View</a:t>
            </a:r>
            <a:endParaRPr/>
          </a:p>
        </p:txBody>
      </p:sp>
      <p:sp>
        <p:nvSpPr>
          <p:cNvPr id="141" name="Google Shape;141;p15"/>
          <p:cNvSpPr txBox="1"/>
          <p:nvPr/>
        </p:nvSpPr>
        <p:spPr>
          <a:xfrm>
            <a:off x="838200" y="2547937"/>
            <a:ext cx="36766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Captures 229 players across ~13K match records, recording 2K goals, 2K assists, and a 6.12 average match rating.</a:t>
            </a:r>
            <a:endParaRPr/>
          </a:p>
        </p:txBody>
      </p:sp>
      <p:sp>
        <p:nvSpPr>
          <p:cNvPr id="142" name="Google Shape;142;p15"/>
          <p:cNvSpPr txBox="1"/>
          <p:nvPr/>
        </p:nvSpPr>
        <p:spPr>
          <a:xfrm>
            <a:off x="838200" y="3519487"/>
            <a:ext cx="4700587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Top Attacking Contributors</a:t>
            </a:r>
            <a:endParaRPr/>
          </a:p>
        </p:txBody>
      </p:sp>
      <p:sp>
        <p:nvSpPr>
          <p:cNvPr id="143" name="Google Shape;143;p15"/>
          <p:cNvSpPr txBox="1"/>
          <p:nvPr/>
        </p:nvSpPr>
        <p:spPr>
          <a:xfrm>
            <a:off x="838200" y="3757612"/>
            <a:ext cx="36766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Lautaro Martinez leads total goal contributions (45+), followed closely by Mykhailo Mudryk and Marcus Thuram.</a:t>
            </a:r>
            <a:endParaRPr/>
          </a:p>
        </p:txBody>
      </p:sp>
      <p:sp>
        <p:nvSpPr>
          <p:cNvPr id="144" name="Google Shape;144;p15"/>
          <p:cNvSpPr txBox="1"/>
          <p:nvPr/>
        </p:nvSpPr>
        <p:spPr>
          <a:xfrm>
            <a:off x="838200" y="4557712"/>
            <a:ext cx="4700587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Positional Breakdown</a:t>
            </a:r>
            <a:endParaRPr/>
          </a:p>
        </p:txBody>
      </p:sp>
      <p:sp>
        <p:nvSpPr>
          <p:cNvPr id="145" name="Google Shape;145;p15"/>
          <p:cNvSpPr txBox="1"/>
          <p:nvPr/>
        </p:nvSpPr>
        <p:spPr>
          <a:xfrm>
            <a:off x="838200" y="4795837"/>
            <a:ext cx="36766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Attacking contribution rate highlights ST dominance, while match ratings remain balanced across key outfield roles (~6.12).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04A8EBE-C907-75F8-BA37-433BE70772D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310" t="4350" r="1966" b="1244"/>
          <a:stretch>
            <a:fillRect/>
          </a:stretch>
        </p:blipFill>
        <p:spPr>
          <a:xfrm>
            <a:off x="4698711" y="1518557"/>
            <a:ext cx="7381857" cy="408758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6"/>
          <p:cNvSpPr/>
          <p:nvPr/>
        </p:nvSpPr>
        <p:spPr>
          <a:xfrm>
            <a:off x="7581900" y="2157412"/>
            <a:ext cx="4000500" cy="885825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6"/>
          <p:cNvSpPr/>
          <p:nvPr/>
        </p:nvSpPr>
        <p:spPr>
          <a:xfrm>
            <a:off x="7581900" y="3195637"/>
            <a:ext cx="4000500" cy="1057275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6"/>
          <p:cNvSpPr/>
          <p:nvPr/>
        </p:nvSpPr>
        <p:spPr>
          <a:xfrm>
            <a:off x="7581900" y="4405312"/>
            <a:ext cx="4000500" cy="1057275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6"/>
          <p:cNvSpPr/>
          <p:nvPr/>
        </p:nvSpPr>
        <p:spPr>
          <a:xfrm>
            <a:off x="7581900" y="2157412"/>
            <a:ext cx="38100" cy="885825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6"/>
          <p:cNvSpPr/>
          <p:nvPr/>
        </p:nvSpPr>
        <p:spPr>
          <a:xfrm>
            <a:off x="7581900" y="3195637"/>
            <a:ext cx="38100" cy="105727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6"/>
          <p:cNvSpPr/>
          <p:nvPr/>
        </p:nvSpPr>
        <p:spPr>
          <a:xfrm>
            <a:off x="7581900" y="4405312"/>
            <a:ext cx="38100" cy="1057275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6"/>
          <p:cNvSpPr txBox="1"/>
          <p:nvPr/>
        </p:nvSpPr>
        <p:spPr>
          <a:xfrm>
            <a:off x="609600" y="647700"/>
            <a:ext cx="1158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Page 2 — Player Analysis: Performance Score &amp; Tier Distribution</a:t>
            </a:r>
            <a:endParaRPr/>
          </a:p>
        </p:txBody>
      </p:sp>
      <p:sp>
        <p:nvSpPr>
          <p:cNvPr id="160" name="Google Shape;160;p16"/>
          <p:cNvSpPr txBox="1"/>
          <p:nvPr/>
        </p:nvSpPr>
        <p:spPr>
          <a:xfrm>
            <a:off x="7810500" y="2309812"/>
            <a:ext cx="43815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Performance Segmentation</a:t>
            </a:r>
            <a:endParaRPr/>
          </a:p>
        </p:txBody>
      </p:sp>
      <p:sp>
        <p:nvSpPr>
          <p:cNvPr id="161" name="Google Shape;161;p16"/>
          <p:cNvSpPr txBox="1"/>
          <p:nvPr/>
        </p:nvSpPr>
        <p:spPr>
          <a:xfrm>
            <a:off x="7810500" y="2547937"/>
            <a:ext cx="36766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Distribution reveals 44.98% Average, 36.24% Strong, 14.41% Low, and a highly scarce 4.37% Elite talent group.</a:t>
            </a:r>
            <a:endParaRPr/>
          </a:p>
        </p:txBody>
      </p:sp>
      <p:sp>
        <p:nvSpPr>
          <p:cNvPr id="162" name="Google Shape;162;p16"/>
          <p:cNvSpPr txBox="1"/>
          <p:nvPr/>
        </p:nvSpPr>
        <p:spPr>
          <a:xfrm>
            <a:off x="7810500" y="3348037"/>
            <a:ext cx="43815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Python Model Validation</a:t>
            </a:r>
            <a:endParaRPr/>
          </a:p>
        </p:txBody>
      </p:sp>
      <p:sp>
        <p:nvSpPr>
          <p:cNvPr id="163" name="Google Shape;163;p16"/>
          <p:cNvSpPr txBox="1"/>
          <p:nvPr/>
        </p:nvSpPr>
        <p:spPr>
          <a:xfrm>
            <a:off x="7810500" y="3586162"/>
            <a:ext cx="36766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Scatter chart proves strong upward correlation between custom Python Performance Score and official Match Ratings.</a:t>
            </a:r>
            <a:endParaRPr/>
          </a:p>
        </p:txBody>
      </p:sp>
      <p:sp>
        <p:nvSpPr>
          <p:cNvPr id="164" name="Google Shape;164;p16"/>
          <p:cNvSpPr txBox="1"/>
          <p:nvPr/>
        </p:nvSpPr>
        <p:spPr>
          <a:xfrm>
            <a:off x="7810500" y="4557712"/>
            <a:ext cx="43815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Multi-Metric Profiling</a:t>
            </a:r>
            <a:endParaRPr/>
          </a:p>
        </p:txBody>
      </p:sp>
      <p:sp>
        <p:nvSpPr>
          <p:cNvPr id="165" name="Google Shape;165;p16"/>
          <p:cNvSpPr txBox="1"/>
          <p:nvPr/>
        </p:nvSpPr>
        <p:spPr>
          <a:xfrm>
            <a:off x="7810500" y="4795837"/>
            <a:ext cx="36766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Combines Goals/90 (0.25 avg), Assists/90 (0.19 avg), Match Rating, and Pass Accuracy (75.11%) for complete evaluation.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6A18C7B-A76B-849E-B70D-28473510326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058" t="693" r="3829" b="2277"/>
          <a:stretch>
            <a:fillRect/>
          </a:stretch>
        </p:blipFill>
        <p:spPr>
          <a:xfrm>
            <a:off x="357865" y="1547811"/>
            <a:ext cx="7090685" cy="449663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7"/>
          <p:cNvSpPr/>
          <p:nvPr/>
        </p:nvSpPr>
        <p:spPr>
          <a:xfrm>
            <a:off x="609600" y="2243137"/>
            <a:ext cx="4000500" cy="885825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7"/>
          <p:cNvSpPr/>
          <p:nvPr/>
        </p:nvSpPr>
        <p:spPr>
          <a:xfrm>
            <a:off x="609600" y="3281362"/>
            <a:ext cx="4000500" cy="885825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7"/>
          <p:cNvSpPr/>
          <p:nvPr/>
        </p:nvSpPr>
        <p:spPr>
          <a:xfrm>
            <a:off x="609600" y="4319587"/>
            <a:ext cx="4000500" cy="1057275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7"/>
          <p:cNvSpPr/>
          <p:nvPr/>
        </p:nvSpPr>
        <p:spPr>
          <a:xfrm>
            <a:off x="609600" y="2243137"/>
            <a:ext cx="38100" cy="8858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7"/>
          <p:cNvSpPr/>
          <p:nvPr/>
        </p:nvSpPr>
        <p:spPr>
          <a:xfrm>
            <a:off x="609600" y="3281362"/>
            <a:ext cx="38100" cy="88582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7"/>
          <p:cNvSpPr/>
          <p:nvPr/>
        </p:nvSpPr>
        <p:spPr>
          <a:xfrm>
            <a:off x="609600" y="4319587"/>
            <a:ext cx="38100" cy="1057275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7"/>
          <p:cNvSpPr txBox="1"/>
          <p:nvPr/>
        </p:nvSpPr>
        <p:spPr>
          <a:xfrm>
            <a:off x="609600" y="647700"/>
            <a:ext cx="1158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Page 3 — Club Performance: Benchmarking &amp; Competition Split</a:t>
            </a:r>
            <a:endParaRPr/>
          </a:p>
        </p:txBody>
      </p:sp>
      <p:sp>
        <p:nvSpPr>
          <p:cNvPr id="180" name="Google Shape;180;p17"/>
          <p:cNvSpPr txBox="1"/>
          <p:nvPr/>
        </p:nvSpPr>
        <p:spPr>
          <a:xfrm>
            <a:off x="838200" y="2395537"/>
            <a:ext cx="4700587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Club Contribution Concentration</a:t>
            </a:r>
            <a:endParaRPr/>
          </a:p>
        </p:txBody>
      </p:sp>
      <p:sp>
        <p:nvSpPr>
          <p:cNvPr id="181" name="Google Shape;181;p17"/>
          <p:cNvSpPr txBox="1"/>
          <p:nvPr/>
        </p:nvSpPr>
        <p:spPr>
          <a:xfrm>
            <a:off x="838200" y="2633662"/>
            <a:ext cx="36766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Arsenal leads overall goal contributions (~320), followed by Manchester United, Real Madrid, and Inter Milan.</a:t>
            </a:r>
            <a:endParaRPr/>
          </a:p>
        </p:txBody>
      </p:sp>
      <p:sp>
        <p:nvSpPr>
          <p:cNvPr id="182" name="Google Shape;182;p17"/>
          <p:cNvSpPr txBox="1"/>
          <p:nvPr/>
        </p:nvSpPr>
        <p:spPr>
          <a:xfrm>
            <a:off x="838200" y="3433762"/>
            <a:ext cx="4700587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Competition Share</a:t>
            </a:r>
            <a:endParaRPr/>
          </a:p>
        </p:txBody>
      </p:sp>
      <p:sp>
        <p:nvSpPr>
          <p:cNvPr id="183" name="Google Shape;183;p17"/>
          <p:cNvSpPr txBox="1"/>
          <p:nvPr/>
        </p:nvSpPr>
        <p:spPr>
          <a:xfrm>
            <a:off x="838200" y="3671887"/>
            <a:ext cx="36766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League matches generate 56.7% of all contributions, Champions League 16.2%, and WC Qualifiers 11.8%.</a:t>
            </a:r>
            <a:endParaRPr/>
          </a:p>
        </p:txBody>
      </p:sp>
      <p:sp>
        <p:nvSpPr>
          <p:cNvPr id="184" name="Google Shape;184;p17"/>
          <p:cNvSpPr txBox="1"/>
          <p:nvPr/>
        </p:nvSpPr>
        <p:spPr>
          <a:xfrm>
            <a:off x="838200" y="4471987"/>
            <a:ext cx="4700587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Technical Quality Scatter</a:t>
            </a:r>
            <a:endParaRPr/>
          </a:p>
        </p:txBody>
      </p:sp>
      <p:sp>
        <p:nvSpPr>
          <p:cNvPr id="185" name="Google Shape;185;p17"/>
          <p:cNvSpPr txBox="1"/>
          <p:nvPr/>
        </p:nvSpPr>
        <p:spPr>
          <a:xfrm>
            <a:off x="838200" y="4710112"/>
            <a:ext cx="36766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Maps Pass Accuracy vs Match Rating by position, contrasting CM high pass control against ST finishing focus.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53C485E-1DB1-FF34-9C1E-F4F71C1430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258382"/>
            <a:ext cx="7168242" cy="509361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8"/>
          <p:cNvSpPr/>
          <p:nvPr/>
        </p:nvSpPr>
        <p:spPr>
          <a:xfrm>
            <a:off x="609600" y="1390650"/>
            <a:ext cx="5372100" cy="5010150"/>
          </a:xfrm>
          <a:prstGeom prst="roundRect">
            <a:avLst>
              <a:gd name="adj" fmla="val 2281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8"/>
          <p:cNvSpPr/>
          <p:nvPr/>
        </p:nvSpPr>
        <p:spPr>
          <a:xfrm>
            <a:off x="6210300" y="1390650"/>
            <a:ext cx="5372100" cy="5010150"/>
          </a:xfrm>
          <a:prstGeom prst="roundRect">
            <a:avLst>
              <a:gd name="adj" fmla="val 2281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8"/>
          <p:cNvSpPr/>
          <p:nvPr/>
        </p:nvSpPr>
        <p:spPr>
          <a:xfrm>
            <a:off x="923925" y="4286250"/>
            <a:ext cx="474345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8"/>
          <p:cNvSpPr/>
          <p:nvPr/>
        </p:nvSpPr>
        <p:spPr>
          <a:xfrm>
            <a:off x="6524625" y="4286250"/>
            <a:ext cx="474345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8"/>
          <p:cNvSpPr/>
          <p:nvPr/>
        </p:nvSpPr>
        <p:spPr>
          <a:xfrm>
            <a:off x="4772025" y="2914650"/>
            <a:ext cx="895350" cy="2286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8"/>
          <p:cNvSpPr/>
          <p:nvPr/>
        </p:nvSpPr>
        <p:spPr>
          <a:xfrm>
            <a:off x="10163175" y="2914650"/>
            <a:ext cx="1104900" cy="22860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8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Player Pool Scope &amp; Performance Tier Concentration</a:t>
            </a:r>
            <a:endParaRPr/>
          </a:p>
        </p:txBody>
      </p:sp>
      <p:sp>
        <p:nvSpPr>
          <p:cNvPr id="198" name="Google Shape;198;p18"/>
          <p:cNvSpPr txBox="1"/>
          <p:nvPr/>
        </p:nvSpPr>
        <p:spPr>
          <a:xfrm>
            <a:off x="923925" y="3295650"/>
            <a:ext cx="6225778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Comprehensive Dataset Coverage</a:t>
            </a:r>
            <a:endParaRPr/>
          </a:p>
        </p:txBody>
      </p:sp>
      <p:sp>
        <p:nvSpPr>
          <p:cNvPr id="199" name="Google Shape;199;p18"/>
          <p:cNvSpPr txBox="1"/>
          <p:nvPr/>
        </p:nvSpPr>
        <p:spPr>
          <a:xfrm>
            <a:off x="923925" y="3676650"/>
            <a:ext cx="48387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analysis evaluates 229 players across ~13K match records, tracking ~2K goals, ~2K assists, and a 6.12 baseline match rating.</a:t>
            </a:r>
            <a:endParaRPr/>
          </a:p>
        </p:txBody>
      </p:sp>
      <p:sp>
        <p:nvSpPr>
          <p:cNvPr id="200" name="Google Shape;200;p18"/>
          <p:cNvSpPr txBox="1"/>
          <p:nvPr/>
        </p:nvSpPr>
        <p:spPr>
          <a:xfrm>
            <a:off x="6524625" y="3295650"/>
            <a:ext cx="566737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Elite Talent Concentration</a:t>
            </a:r>
            <a:endParaRPr/>
          </a:p>
        </p:txBody>
      </p:sp>
      <p:sp>
        <p:nvSpPr>
          <p:cNvPr id="201" name="Google Shape;201;p18"/>
          <p:cNvSpPr txBox="1"/>
          <p:nvPr/>
        </p:nvSpPr>
        <p:spPr>
          <a:xfrm>
            <a:off x="6524625" y="3676650"/>
            <a:ext cx="48387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81.2% of players fall into Average (44.98%) or Strong (36.24%) tiers. The Elite segment represents only 4.37% of the entire player pool.</a:t>
            </a:r>
            <a:endParaRPr/>
          </a:p>
        </p:txBody>
      </p:sp>
      <p:sp>
        <p:nvSpPr>
          <p:cNvPr id="202" name="Google Shape;202;p18"/>
          <p:cNvSpPr txBox="1"/>
          <p:nvPr/>
        </p:nvSpPr>
        <p:spPr>
          <a:xfrm>
            <a:off x="923925" y="2943225"/>
            <a:ext cx="9906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INSIGHT 01</a:t>
            </a:r>
            <a:endParaRPr/>
          </a:p>
        </p:txBody>
      </p:sp>
      <p:sp>
        <p:nvSpPr>
          <p:cNvPr id="203" name="Google Shape;203;p18"/>
          <p:cNvSpPr txBox="1"/>
          <p:nvPr/>
        </p:nvSpPr>
        <p:spPr>
          <a:xfrm>
            <a:off x="4867275" y="2952750"/>
            <a:ext cx="8001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0369A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Overall Pool</a:t>
            </a:r>
            <a:endParaRPr/>
          </a:p>
        </p:txBody>
      </p:sp>
      <p:sp>
        <p:nvSpPr>
          <p:cNvPr id="204" name="Google Shape;204;p18"/>
          <p:cNvSpPr txBox="1"/>
          <p:nvPr/>
        </p:nvSpPr>
        <p:spPr>
          <a:xfrm>
            <a:off x="1085850" y="4410075"/>
            <a:ext cx="45148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Management Interpretation: Provides a broad, highly reliable foundation for benchmarking player participation and output.</a:t>
            </a:r>
            <a:endParaRPr/>
          </a:p>
        </p:txBody>
      </p:sp>
      <p:sp>
        <p:nvSpPr>
          <p:cNvPr id="205" name="Google Shape;205;p18"/>
          <p:cNvSpPr txBox="1"/>
          <p:nvPr/>
        </p:nvSpPr>
        <p:spPr>
          <a:xfrm>
            <a:off x="6524625" y="2943225"/>
            <a:ext cx="10096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INSIGHT 02</a:t>
            </a:r>
            <a:endParaRPr/>
          </a:p>
        </p:txBody>
      </p:sp>
      <p:sp>
        <p:nvSpPr>
          <p:cNvPr id="206" name="Google Shape;206;p18"/>
          <p:cNvSpPr txBox="1"/>
          <p:nvPr/>
        </p:nvSpPr>
        <p:spPr>
          <a:xfrm>
            <a:off x="10258425" y="2952750"/>
            <a:ext cx="100965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B4530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Scarcity Factor</a:t>
            </a:r>
            <a:endParaRPr/>
          </a:p>
        </p:txBody>
      </p:sp>
      <p:sp>
        <p:nvSpPr>
          <p:cNvPr id="207" name="Google Shape;207;p18"/>
          <p:cNvSpPr txBox="1"/>
          <p:nvPr/>
        </p:nvSpPr>
        <p:spPr>
          <a:xfrm>
            <a:off x="6686550" y="4410075"/>
            <a:ext cx="45148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Management Interpretation: Elite talent is extremely scarce; granular data differentiation is essential for squad evaluation.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9"/>
          <p:cNvSpPr/>
          <p:nvPr/>
        </p:nvSpPr>
        <p:spPr>
          <a:xfrm>
            <a:off x="609600" y="1390650"/>
            <a:ext cx="5372100" cy="5010150"/>
          </a:xfrm>
          <a:prstGeom prst="roundRect">
            <a:avLst>
              <a:gd name="adj" fmla="val 2281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9"/>
          <p:cNvSpPr/>
          <p:nvPr/>
        </p:nvSpPr>
        <p:spPr>
          <a:xfrm>
            <a:off x="6210300" y="1390650"/>
            <a:ext cx="5372100" cy="5010150"/>
          </a:xfrm>
          <a:prstGeom prst="roundRect">
            <a:avLst>
              <a:gd name="adj" fmla="val 2281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9"/>
          <p:cNvSpPr/>
          <p:nvPr/>
        </p:nvSpPr>
        <p:spPr>
          <a:xfrm>
            <a:off x="923925" y="4400550"/>
            <a:ext cx="474345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9"/>
          <p:cNvSpPr/>
          <p:nvPr/>
        </p:nvSpPr>
        <p:spPr>
          <a:xfrm>
            <a:off x="6524625" y="4400550"/>
            <a:ext cx="474345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9"/>
          <p:cNvSpPr/>
          <p:nvPr/>
        </p:nvSpPr>
        <p:spPr>
          <a:xfrm>
            <a:off x="4505325" y="2800350"/>
            <a:ext cx="1162050" cy="22860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9"/>
          <p:cNvSpPr/>
          <p:nvPr/>
        </p:nvSpPr>
        <p:spPr>
          <a:xfrm>
            <a:off x="9906000" y="2800350"/>
            <a:ext cx="1362075" cy="228600"/>
          </a:xfrm>
          <a:prstGeom prst="roundRect">
            <a:avLst>
              <a:gd name="adj" fmla="val 50000"/>
            </a:avLst>
          </a:prstGeom>
          <a:solidFill>
            <a:srgbClr val="F3E8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9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Positional Output &amp; Club Concentration Drivers</a:t>
            </a:r>
            <a:endParaRPr/>
          </a:p>
        </p:txBody>
      </p:sp>
      <p:sp>
        <p:nvSpPr>
          <p:cNvPr id="220" name="Google Shape;220;p19"/>
          <p:cNvSpPr txBox="1"/>
          <p:nvPr/>
        </p:nvSpPr>
        <p:spPr>
          <a:xfrm>
            <a:off x="923925" y="3181350"/>
            <a:ext cx="6225778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Striker &amp; Attacking Output</a:t>
            </a:r>
            <a:endParaRPr/>
          </a:p>
        </p:txBody>
      </p:sp>
      <p:sp>
        <p:nvSpPr>
          <p:cNvPr id="221" name="Google Shape;221;p19"/>
          <p:cNvSpPr txBox="1"/>
          <p:nvPr/>
        </p:nvSpPr>
        <p:spPr>
          <a:xfrm>
            <a:off x="923925" y="3562350"/>
            <a:ext cx="48387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Strikers generate 944 goal contributions, followed by CAM (323), RW (317), and LW (315). Midfield and defense contribute through key passes and balance.</a:t>
            </a:r>
            <a:endParaRPr/>
          </a:p>
        </p:txBody>
      </p:sp>
      <p:sp>
        <p:nvSpPr>
          <p:cNvPr id="222" name="Google Shape;222;p19"/>
          <p:cNvSpPr txBox="1"/>
          <p:nvPr/>
        </p:nvSpPr>
        <p:spPr>
          <a:xfrm>
            <a:off x="6524625" y="3181350"/>
            <a:ext cx="566737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Concentrated Top-Club Output</a:t>
            </a:r>
            <a:endParaRPr/>
          </a:p>
        </p:txBody>
      </p:sp>
      <p:sp>
        <p:nvSpPr>
          <p:cNvPr id="223" name="Google Shape;223;p19"/>
          <p:cNvSpPr txBox="1"/>
          <p:nvPr/>
        </p:nvSpPr>
        <p:spPr>
          <a:xfrm>
            <a:off x="6524625" y="3562350"/>
            <a:ext cx="48387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Goal contributions are heavily clustered in top European clubs, led by Arsenal, Manchester United, Real Madrid, Inter Milan, and Bayern Munich.</a:t>
            </a:r>
            <a:endParaRPr/>
          </a:p>
        </p:txBody>
      </p:sp>
      <p:sp>
        <p:nvSpPr>
          <p:cNvPr id="224" name="Google Shape;224;p19"/>
          <p:cNvSpPr txBox="1"/>
          <p:nvPr/>
        </p:nvSpPr>
        <p:spPr>
          <a:xfrm>
            <a:off x="923925" y="2828925"/>
            <a:ext cx="101917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INSIGHT 03</a:t>
            </a:r>
            <a:endParaRPr/>
          </a:p>
        </p:txBody>
      </p:sp>
      <p:sp>
        <p:nvSpPr>
          <p:cNvPr id="225" name="Google Shape;225;p19"/>
          <p:cNvSpPr txBox="1"/>
          <p:nvPr/>
        </p:nvSpPr>
        <p:spPr>
          <a:xfrm>
            <a:off x="4600575" y="2838450"/>
            <a:ext cx="10668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15803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Positional Focus</a:t>
            </a:r>
            <a:endParaRPr/>
          </a:p>
        </p:txBody>
      </p:sp>
      <p:sp>
        <p:nvSpPr>
          <p:cNvPr id="226" name="Google Shape;226;p19"/>
          <p:cNvSpPr txBox="1"/>
          <p:nvPr/>
        </p:nvSpPr>
        <p:spPr>
          <a:xfrm>
            <a:off x="1085850" y="4524375"/>
            <a:ext cx="45148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Management Interpretation: Non-forward evaluation must shift from raw goals to pass efficiency and positional rating indicators.</a:t>
            </a:r>
            <a:endParaRPr/>
          </a:p>
        </p:txBody>
      </p:sp>
      <p:sp>
        <p:nvSpPr>
          <p:cNvPr id="227" name="Google Shape;227;p19"/>
          <p:cNvSpPr txBox="1"/>
          <p:nvPr/>
        </p:nvSpPr>
        <p:spPr>
          <a:xfrm>
            <a:off x="6524625" y="2828925"/>
            <a:ext cx="101917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INSIGHT 04</a:t>
            </a:r>
            <a:endParaRPr/>
          </a:p>
        </p:txBody>
      </p:sp>
      <p:sp>
        <p:nvSpPr>
          <p:cNvPr id="228" name="Google Shape;228;p19"/>
          <p:cNvSpPr txBox="1"/>
          <p:nvPr/>
        </p:nvSpPr>
        <p:spPr>
          <a:xfrm>
            <a:off x="10001250" y="2838450"/>
            <a:ext cx="126682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7E22C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Club Heavyweights</a:t>
            </a:r>
            <a:endParaRPr/>
          </a:p>
        </p:txBody>
      </p:sp>
      <p:sp>
        <p:nvSpPr>
          <p:cNvPr id="229" name="Google Shape;229;p19"/>
          <p:cNvSpPr txBox="1"/>
          <p:nvPr/>
        </p:nvSpPr>
        <p:spPr>
          <a:xfrm>
            <a:off x="6686550" y="4524375"/>
            <a:ext cx="45148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Management Interpretation: Establishes a concrete organizational benchmark for squad construction and competitive evaluation.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0"/>
          <p:cNvSpPr/>
          <p:nvPr/>
        </p:nvSpPr>
        <p:spPr>
          <a:xfrm>
            <a:off x="609600" y="1390650"/>
            <a:ext cx="3530649" cy="5010150"/>
          </a:xfrm>
          <a:prstGeom prst="roundRect">
            <a:avLst>
              <a:gd name="adj" fmla="val 3237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0"/>
          <p:cNvSpPr/>
          <p:nvPr/>
        </p:nvSpPr>
        <p:spPr>
          <a:xfrm>
            <a:off x="4330749" y="1390650"/>
            <a:ext cx="3530649" cy="5010150"/>
          </a:xfrm>
          <a:prstGeom prst="roundRect">
            <a:avLst>
              <a:gd name="adj" fmla="val 3237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0"/>
          <p:cNvSpPr/>
          <p:nvPr/>
        </p:nvSpPr>
        <p:spPr>
          <a:xfrm>
            <a:off x="8051899" y="1390650"/>
            <a:ext cx="3530649" cy="5010150"/>
          </a:xfrm>
          <a:prstGeom prst="roundRect">
            <a:avLst>
              <a:gd name="adj" fmla="val 3237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0"/>
          <p:cNvSpPr/>
          <p:nvPr/>
        </p:nvSpPr>
        <p:spPr>
          <a:xfrm>
            <a:off x="885825" y="3019425"/>
            <a:ext cx="2978199" cy="51435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0"/>
          <p:cNvSpPr/>
          <p:nvPr/>
        </p:nvSpPr>
        <p:spPr>
          <a:xfrm>
            <a:off x="4606974" y="3019425"/>
            <a:ext cx="2978199" cy="51435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0"/>
          <p:cNvSpPr/>
          <p:nvPr/>
        </p:nvSpPr>
        <p:spPr>
          <a:xfrm>
            <a:off x="8328124" y="3019425"/>
            <a:ext cx="2978199" cy="51435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0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Competition Context, Model Validation &amp; Multi-KPI Evaluation</a:t>
            </a:r>
            <a:endParaRPr/>
          </a:p>
        </p:txBody>
      </p:sp>
      <p:sp>
        <p:nvSpPr>
          <p:cNvPr id="242" name="Google Shape;242;p20"/>
          <p:cNvSpPr txBox="1"/>
          <p:nvPr/>
        </p:nvSpPr>
        <p:spPr>
          <a:xfrm>
            <a:off x="885825" y="1666875"/>
            <a:ext cx="3722749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INSIGHT 05</a:t>
            </a:r>
            <a:endParaRPr/>
          </a:p>
        </p:txBody>
      </p:sp>
      <p:sp>
        <p:nvSpPr>
          <p:cNvPr id="243" name="Google Shape;243;p20"/>
          <p:cNvSpPr txBox="1"/>
          <p:nvPr/>
        </p:nvSpPr>
        <p:spPr>
          <a:xfrm>
            <a:off x="885825" y="1933575"/>
            <a:ext cx="3908886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Competition Split</a:t>
            </a:r>
            <a:endParaRPr/>
          </a:p>
        </p:txBody>
      </p:sp>
      <p:sp>
        <p:nvSpPr>
          <p:cNvPr id="244" name="Google Shape;244;p20"/>
          <p:cNvSpPr txBox="1"/>
          <p:nvPr/>
        </p:nvSpPr>
        <p:spPr>
          <a:xfrm>
            <a:off x="885825" y="2266950"/>
            <a:ext cx="3073449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League matches drive 56.7% of total output, Champions League 16.2%, and World Cup Qualifiers 11.8%.</a:t>
            </a:r>
            <a:endParaRPr/>
          </a:p>
        </p:txBody>
      </p:sp>
      <p:sp>
        <p:nvSpPr>
          <p:cNvPr id="245" name="Google Shape;245;p20"/>
          <p:cNvSpPr txBox="1"/>
          <p:nvPr/>
        </p:nvSpPr>
        <p:spPr>
          <a:xfrm>
            <a:off x="981075" y="3114675"/>
            <a:ext cx="2882949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Takeaway: Player output must be context-adjusted by competition type.</a:t>
            </a:r>
            <a:endParaRPr/>
          </a:p>
        </p:txBody>
      </p:sp>
      <p:sp>
        <p:nvSpPr>
          <p:cNvPr id="246" name="Google Shape;246;p20"/>
          <p:cNvSpPr txBox="1"/>
          <p:nvPr/>
        </p:nvSpPr>
        <p:spPr>
          <a:xfrm>
            <a:off x="4606974" y="1666875"/>
            <a:ext cx="3722749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INSIGHT 06</a:t>
            </a:r>
            <a:endParaRPr/>
          </a:p>
        </p:txBody>
      </p:sp>
      <p:sp>
        <p:nvSpPr>
          <p:cNvPr id="247" name="Google Shape;247;p20"/>
          <p:cNvSpPr txBox="1"/>
          <p:nvPr/>
        </p:nvSpPr>
        <p:spPr>
          <a:xfrm>
            <a:off x="4606974" y="1933575"/>
            <a:ext cx="3908886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Python Model Alignment</a:t>
            </a:r>
            <a:endParaRPr/>
          </a:p>
        </p:txBody>
      </p:sp>
      <p:sp>
        <p:nvSpPr>
          <p:cNvPr id="248" name="Google Shape;248;p20"/>
          <p:cNvSpPr txBox="1"/>
          <p:nvPr/>
        </p:nvSpPr>
        <p:spPr>
          <a:xfrm>
            <a:off x="4606974" y="2266950"/>
            <a:ext cx="3073449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Scatter analysis confirms clear positive correlation between Python Performance Score and official Match Ratings.</a:t>
            </a:r>
            <a:endParaRPr/>
          </a:p>
        </p:txBody>
      </p:sp>
      <p:sp>
        <p:nvSpPr>
          <p:cNvPr id="249" name="Google Shape;249;p20"/>
          <p:cNvSpPr txBox="1"/>
          <p:nvPr/>
        </p:nvSpPr>
        <p:spPr>
          <a:xfrm>
            <a:off x="4702224" y="3114675"/>
            <a:ext cx="2882949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Takeaway: Validates custom feature engineering against match performance.</a:t>
            </a:r>
            <a:endParaRPr/>
          </a:p>
        </p:txBody>
      </p:sp>
      <p:sp>
        <p:nvSpPr>
          <p:cNvPr id="250" name="Google Shape;250;p20"/>
          <p:cNvSpPr txBox="1"/>
          <p:nvPr/>
        </p:nvSpPr>
        <p:spPr>
          <a:xfrm>
            <a:off x="8328124" y="1666875"/>
            <a:ext cx="3722749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INSIGHT 07</a:t>
            </a:r>
            <a:endParaRPr/>
          </a:p>
        </p:txBody>
      </p:sp>
      <p:sp>
        <p:nvSpPr>
          <p:cNvPr id="251" name="Google Shape;251;p20"/>
          <p:cNvSpPr txBox="1"/>
          <p:nvPr/>
        </p:nvSpPr>
        <p:spPr>
          <a:xfrm>
            <a:off x="8328124" y="1933575"/>
            <a:ext cx="386387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Multi-KPI Evaluation</a:t>
            </a:r>
            <a:endParaRPr/>
          </a:p>
        </p:txBody>
      </p:sp>
      <p:sp>
        <p:nvSpPr>
          <p:cNvPr id="252" name="Google Shape;252;p20"/>
          <p:cNvSpPr txBox="1"/>
          <p:nvPr/>
        </p:nvSpPr>
        <p:spPr>
          <a:xfrm>
            <a:off x="8328124" y="2266950"/>
            <a:ext cx="3073449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Integrates Goals/90, Assists/90, Goal Contributions/90, Match Rating, and Pass Accuracy.</a:t>
            </a:r>
            <a:endParaRPr/>
          </a:p>
        </p:txBody>
      </p:sp>
      <p:sp>
        <p:nvSpPr>
          <p:cNvPr id="253" name="Google Shape;253;p20"/>
          <p:cNvSpPr txBox="1"/>
          <p:nvPr/>
        </p:nvSpPr>
        <p:spPr>
          <a:xfrm>
            <a:off x="8423374" y="3114675"/>
            <a:ext cx="2882949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Takeaway: Prevents single-metric bias in player valuation.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1"/>
          <p:cNvSpPr/>
          <p:nvPr/>
        </p:nvSpPr>
        <p:spPr>
          <a:xfrm>
            <a:off x="609600" y="1390650"/>
            <a:ext cx="5353050" cy="5010150"/>
          </a:xfrm>
          <a:prstGeom prst="roundRect">
            <a:avLst>
              <a:gd name="adj" fmla="val 2281"/>
            </a:avLst>
          </a:prstGeom>
          <a:solidFill>
            <a:srgbClr val="F8FAFC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1"/>
          <p:cNvSpPr/>
          <p:nvPr/>
        </p:nvSpPr>
        <p:spPr>
          <a:xfrm>
            <a:off x="6229350" y="1390650"/>
            <a:ext cx="5353050" cy="5010150"/>
          </a:xfrm>
          <a:prstGeom prst="roundRect">
            <a:avLst>
              <a:gd name="adj" fmla="val 2281"/>
            </a:avLst>
          </a:prstGeom>
          <a:solidFill>
            <a:srgbClr val="F8FAFC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0" name="Google Shape;260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3925" y="1724025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43675" y="1724025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1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SQL Extraction &amp; Python Feature Pipeline Architecture</a:t>
            </a:r>
            <a:endParaRPr/>
          </a:p>
        </p:txBody>
      </p:sp>
      <p:sp>
        <p:nvSpPr>
          <p:cNvPr id="264" name="Google Shape;264;p21"/>
          <p:cNvSpPr txBox="1"/>
          <p:nvPr/>
        </p:nvSpPr>
        <p:spPr>
          <a:xfrm>
            <a:off x="1238250" y="1704975"/>
            <a:ext cx="2675334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SQL Database Layer</a:t>
            </a:r>
            <a:endParaRPr/>
          </a:p>
        </p:txBody>
      </p:sp>
      <p:sp>
        <p:nvSpPr>
          <p:cNvPr id="265" name="Google Shape;265;p21"/>
          <p:cNvSpPr txBox="1"/>
          <p:nvPr/>
        </p:nvSpPr>
        <p:spPr>
          <a:xfrm>
            <a:off x="1152525" y="2162175"/>
            <a:ext cx="459105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Structured Querying:</a:t>
            </a:r>
            <a:r>
              <a:rPr lang="en-US" sz="1125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Multi-table joins across match logs, player master records, and club tables.</a:t>
            </a:r>
            <a:endParaRPr/>
          </a:p>
        </p:txBody>
      </p:sp>
      <p:sp>
        <p:nvSpPr>
          <p:cNvPr id="266" name="Google Shape;266;p21"/>
          <p:cNvSpPr txBox="1"/>
          <p:nvPr/>
        </p:nvSpPr>
        <p:spPr>
          <a:xfrm>
            <a:off x="1152525" y="2743200"/>
            <a:ext cx="459105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Aggregation Accuracy:</a:t>
            </a:r>
            <a:r>
              <a:rPr lang="en-US" sz="1125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Zero-loss grouped match summaries across 13K total match records.</a:t>
            </a:r>
            <a:endParaRPr/>
          </a:p>
        </p:txBody>
      </p:sp>
      <p:sp>
        <p:nvSpPr>
          <p:cNvPr id="267" name="Google Shape;267;p21"/>
          <p:cNvSpPr txBox="1"/>
          <p:nvPr/>
        </p:nvSpPr>
        <p:spPr>
          <a:xfrm>
            <a:off x="1152525" y="3324225"/>
            <a:ext cx="459105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Relational Integrity:</a:t>
            </a:r>
            <a:r>
              <a:rPr lang="en-US" sz="1125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Clean key modeling between player IDs, position groupings, and competitions.</a:t>
            </a:r>
            <a:endParaRPr/>
          </a:p>
        </p:txBody>
      </p:sp>
      <p:sp>
        <p:nvSpPr>
          <p:cNvPr id="268" name="Google Shape;268;p21"/>
          <p:cNvSpPr txBox="1"/>
          <p:nvPr/>
        </p:nvSpPr>
        <p:spPr>
          <a:xfrm>
            <a:off x="6858000" y="1704975"/>
            <a:ext cx="3112889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Python &amp; Pandas Layer</a:t>
            </a:r>
            <a:endParaRPr/>
          </a:p>
        </p:txBody>
      </p:sp>
      <p:sp>
        <p:nvSpPr>
          <p:cNvPr id="269" name="Google Shape;269;p21"/>
          <p:cNvSpPr txBox="1"/>
          <p:nvPr/>
        </p:nvSpPr>
        <p:spPr>
          <a:xfrm>
            <a:off x="6772275" y="2162175"/>
            <a:ext cx="459105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Feature Engineering:</a:t>
            </a:r>
            <a:r>
              <a:rPr lang="en-US" sz="1125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Normalized Goals/90, Assists/90, and Goal Contributions per 90 minutes.</a:t>
            </a:r>
            <a:endParaRPr/>
          </a:p>
        </p:txBody>
      </p:sp>
      <p:sp>
        <p:nvSpPr>
          <p:cNvPr id="270" name="Google Shape;270;p21"/>
          <p:cNvSpPr txBox="1"/>
          <p:nvPr/>
        </p:nvSpPr>
        <p:spPr>
          <a:xfrm>
            <a:off x="6772275" y="2743200"/>
            <a:ext cx="459105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Scoring Algorithm:</a:t>
            </a:r>
            <a:r>
              <a:rPr lang="en-US" sz="1125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Weighted performance score model combining productivity, ratings, and pass precision.</a:t>
            </a:r>
            <a:endParaRPr/>
          </a:p>
        </p:txBody>
      </p:sp>
      <p:sp>
        <p:nvSpPr>
          <p:cNvPr id="271" name="Google Shape;271;p21"/>
          <p:cNvSpPr txBox="1"/>
          <p:nvPr/>
        </p:nvSpPr>
        <p:spPr>
          <a:xfrm>
            <a:off x="6772275" y="3324225"/>
            <a:ext cx="459105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Tier Categorization:</a:t>
            </a:r>
            <a:r>
              <a:rPr lang="en-US" sz="1125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Binned performance distribution into Average, Strong, Low, and Elite tiers.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2"/>
          <p:cNvSpPr/>
          <p:nvPr/>
        </p:nvSpPr>
        <p:spPr>
          <a:xfrm>
            <a:off x="609600" y="1390650"/>
            <a:ext cx="3505200" cy="5010150"/>
          </a:xfrm>
          <a:prstGeom prst="roundRect">
            <a:avLst>
              <a:gd name="adj" fmla="val 3260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2"/>
          <p:cNvSpPr/>
          <p:nvPr/>
        </p:nvSpPr>
        <p:spPr>
          <a:xfrm>
            <a:off x="4343400" y="1390650"/>
            <a:ext cx="3505200" cy="5010150"/>
          </a:xfrm>
          <a:prstGeom prst="roundRect">
            <a:avLst>
              <a:gd name="adj" fmla="val 3260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2"/>
          <p:cNvSpPr/>
          <p:nvPr/>
        </p:nvSpPr>
        <p:spPr>
          <a:xfrm>
            <a:off x="8077200" y="1390650"/>
            <a:ext cx="3505200" cy="5010150"/>
          </a:xfrm>
          <a:prstGeom prst="roundRect">
            <a:avLst>
              <a:gd name="adj" fmla="val 3260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9" name="Google Shape;279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5825" y="1666875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19625" y="1666875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53425" y="1666875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00125" y="1762125"/>
            <a:ext cx="1143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714875" y="1762125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2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439150" y="1762125"/>
            <a:ext cx="1714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VISUALIZATION &amp; MODELING</a:t>
            </a:r>
            <a:endParaRPr/>
          </a:p>
        </p:txBody>
      </p:sp>
      <p:sp>
        <p:nvSpPr>
          <p:cNvPr id="286" name="Google Shape;286;p22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Power BI Architecture &amp; DAX Modeling Layer</a:t>
            </a:r>
            <a:endParaRPr/>
          </a:p>
        </p:txBody>
      </p:sp>
      <p:sp>
        <p:nvSpPr>
          <p:cNvPr id="287" name="Google Shape;287;p22"/>
          <p:cNvSpPr txBox="1"/>
          <p:nvPr/>
        </p:nvSpPr>
        <p:spPr>
          <a:xfrm>
            <a:off x="885825" y="2162175"/>
            <a:ext cx="3875484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DAX Measure Modeling</a:t>
            </a:r>
            <a:endParaRPr/>
          </a:p>
        </p:txBody>
      </p:sp>
      <p:sp>
        <p:nvSpPr>
          <p:cNvPr id="288" name="Google Shape;288;p22"/>
          <p:cNvSpPr txBox="1"/>
          <p:nvPr/>
        </p:nvSpPr>
        <p:spPr>
          <a:xfrm>
            <a:off x="885825" y="2457450"/>
            <a:ext cx="304800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Custom DAX measures calculating total goals/assists, weighted per-90 averages, pass accuracy ratios, and dynamic KPI counts.</a:t>
            </a:r>
            <a:endParaRPr/>
          </a:p>
        </p:txBody>
      </p:sp>
      <p:sp>
        <p:nvSpPr>
          <p:cNvPr id="289" name="Google Shape;289;p22"/>
          <p:cNvSpPr txBox="1"/>
          <p:nvPr/>
        </p:nvSpPr>
        <p:spPr>
          <a:xfrm>
            <a:off x="4619625" y="2162175"/>
            <a:ext cx="3875484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Interactive Cross-Filtering</a:t>
            </a:r>
            <a:endParaRPr/>
          </a:p>
        </p:txBody>
      </p:sp>
      <p:sp>
        <p:nvSpPr>
          <p:cNvPr id="290" name="Google Shape;290;p22"/>
          <p:cNvSpPr txBox="1"/>
          <p:nvPr/>
        </p:nvSpPr>
        <p:spPr>
          <a:xfrm>
            <a:off x="4619625" y="2457450"/>
            <a:ext cx="304800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Configured dynamic slicers for Club, Position, Player, and Competition, enabling seamless drill-down from macro to micro level.</a:t>
            </a:r>
            <a:endParaRPr/>
          </a:p>
        </p:txBody>
      </p:sp>
      <p:sp>
        <p:nvSpPr>
          <p:cNvPr id="291" name="Google Shape;291;p22"/>
          <p:cNvSpPr txBox="1"/>
          <p:nvPr/>
        </p:nvSpPr>
        <p:spPr>
          <a:xfrm>
            <a:off x="8353425" y="2162175"/>
            <a:ext cx="383857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Executive Page Flow</a:t>
            </a:r>
            <a:endParaRPr/>
          </a:p>
        </p:txBody>
      </p:sp>
      <p:sp>
        <p:nvSpPr>
          <p:cNvPr id="292" name="Google Shape;292;p22"/>
          <p:cNvSpPr txBox="1"/>
          <p:nvPr/>
        </p:nvSpPr>
        <p:spPr>
          <a:xfrm>
            <a:off x="8353425" y="2457450"/>
            <a:ext cx="30480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Structured across 3 distinct pages maintaining clear logical progression: Overview $\rightarrow$ Individual Deep Dive $\rightarrow$ Club &amp; Competition Analysis.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3"/>
          <p:cNvSpPr/>
          <p:nvPr/>
        </p:nvSpPr>
        <p:spPr>
          <a:xfrm>
            <a:off x="609600" y="1390650"/>
            <a:ext cx="10972800" cy="5010150"/>
          </a:xfrm>
          <a:prstGeom prst="roundRect">
            <a:avLst>
              <a:gd name="adj" fmla="val 2281"/>
            </a:avLst>
          </a:prstGeom>
          <a:solidFill>
            <a:srgbClr val="F8FAFC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3"/>
          <p:cNvSpPr/>
          <p:nvPr/>
        </p:nvSpPr>
        <p:spPr>
          <a:xfrm>
            <a:off x="923925" y="2724150"/>
            <a:ext cx="5057775" cy="1057275"/>
          </a:xfrm>
          <a:prstGeom prst="roundRect">
            <a:avLst>
              <a:gd name="adj" fmla="val 7207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3"/>
          <p:cNvSpPr/>
          <p:nvPr/>
        </p:nvSpPr>
        <p:spPr>
          <a:xfrm>
            <a:off x="6210300" y="2724150"/>
            <a:ext cx="5057775" cy="1057275"/>
          </a:xfrm>
          <a:prstGeom prst="roundRect">
            <a:avLst>
              <a:gd name="adj" fmla="val 7207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3"/>
          <p:cNvSpPr/>
          <p:nvPr/>
        </p:nvSpPr>
        <p:spPr>
          <a:xfrm>
            <a:off x="923925" y="4010025"/>
            <a:ext cx="5057775" cy="1057275"/>
          </a:xfrm>
          <a:prstGeom prst="roundRect">
            <a:avLst>
              <a:gd name="adj" fmla="val 7207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3"/>
          <p:cNvSpPr/>
          <p:nvPr/>
        </p:nvSpPr>
        <p:spPr>
          <a:xfrm>
            <a:off x="6210300" y="4010025"/>
            <a:ext cx="5057775" cy="1057275"/>
          </a:xfrm>
          <a:prstGeom prst="roundRect">
            <a:avLst>
              <a:gd name="adj" fmla="val 7207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3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Converting Raw Match Records into Actionable Business Value</a:t>
            </a:r>
            <a:endParaRPr/>
          </a:p>
        </p:txBody>
      </p:sp>
      <p:sp>
        <p:nvSpPr>
          <p:cNvPr id="304" name="Google Shape;304;p23"/>
          <p:cNvSpPr txBox="1"/>
          <p:nvPr/>
        </p:nvSpPr>
        <p:spPr>
          <a:xfrm>
            <a:off x="1123950" y="2924175"/>
            <a:ext cx="6113264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284C7"/>
                </a:solidFill>
                <a:latin typeface="Space Grotesk"/>
                <a:ea typeface="Space Grotesk"/>
                <a:cs typeface="Space Grotesk"/>
                <a:sym typeface="Space Grotesk"/>
              </a:rPr>
              <a:t>SQL Data Infrastructure</a:t>
            </a:r>
            <a:endParaRPr/>
          </a:p>
        </p:txBody>
      </p:sp>
      <p:sp>
        <p:nvSpPr>
          <p:cNvPr id="305" name="Google Shape;305;p23"/>
          <p:cNvSpPr txBox="1"/>
          <p:nvPr/>
        </p:nvSpPr>
        <p:spPr>
          <a:xfrm>
            <a:off x="1123950" y="3181350"/>
            <a:ext cx="475297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Leverages relational querying and aggregation logic to structure complex match logs efficiently without data loss.</a:t>
            </a:r>
            <a:endParaRPr/>
          </a:p>
        </p:txBody>
      </p:sp>
      <p:sp>
        <p:nvSpPr>
          <p:cNvPr id="306" name="Google Shape;306;p23"/>
          <p:cNvSpPr txBox="1"/>
          <p:nvPr/>
        </p:nvSpPr>
        <p:spPr>
          <a:xfrm>
            <a:off x="6410325" y="2924175"/>
            <a:ext cx="578167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6A34A"/>
                </a:solidFill>
                <a:latin typeface="Space Grotesk"/>
                <a:ea typeface="Space Grotesk"/>
                <a:cs typeface="Space Grotesk"/>
                <a:sym typeface="Space Grotesk"/>
              </a:rPr>
              <a:t>Python Advanced Analytics</a:t>
            </a:r>
            <a:endParaRPr/>
          </a:p>
        </p:txBody>
      </p:sp>
      <p:sp>
        <p:nvSpPr>
          <p:cNvPr id="307" name="Google Shape;307;p23"/>
          <p:cNvSpPr txBox="1"/>
          <p:nvPr/>
        </p:nvSpPr>
        <p:spPr>
          <a:xfrm>
            <a:off x="6410325" y="3181350"/>
            <a:ext cx="475297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Engineers custom performance scores and validates them against match ratings to provide secondary analytical depth.</a:t>
            </a:r>
            <a:endParaRPr/>
          </a:p>
        </p:txBody>
      </p:sp>
      <p:sp>
        <p:nvSpPr>
          <p:cNvPr id="308" name="Google Shape;308;p23"/>
          <p:cNvSpPr txBox="1"/>
          <p:nvPr/>
        </p:nvSpPr>
        <p:spPr>
          <a:xfrm>
            <a:off x="1123950" y="4210050"/>
            <a:ext cx="6113264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D97706"/>
                </a:solidFill>
                <a:latin typeface="Space Grotesk"/>
                <a:ea typeface="Space Grotesk"/>
                <a:cs typeface="Space Grotesk"/>
                <a:sym typeface="Space Grotesk"/>
              </a:rPr>
              <a:t>Interactive Power BI BI</a:t>
            </a:r>
            <a:endParaRPr/>
          </a:p>
        </p:txBody>
      </p:sp>
      <p:sp>
        <p:nvSpPr>
          <p:cNvPr id="309" name="Google Shape;309;p23"/>
          <p:cNvSpPr txBox="1"/>
          <p:nvPr/>
        </p:nvSpPr>
        <p:spPr>
          <a:xfrm>
            <a:off x="1123950" y="4467225"/>
            <a:ext cx="475297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Delivers a 3-page interactive dashboard empowering management to explore player, positional, and club trends dynamically.</a:t>
            </a:r>
            <a:endParaRPr/>
          </a:p>
        </p:txBody>
      </p:sp>
      <p:sp>
        <p:nvSpPr>
          <p:cNvPr id="310" name="Google Shape;310;p23"/>
          <p:cNvSpPr txBox="1"/>
          <p:nvPr/>
        </p:nvSpPr>
        <p:spPr>
          <a:xfrm>
            <a:off x="6410325" y="4210050"/>
            <a:ext cx="578167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9333EA"/>
                </a:solidFill>
                <a:latin typeface="Space Grotesk"/>
                <a:ea typeface="Space Grotesk"/>
                <a:cs typeface="Space Grotesk"/>
                <a:sym typeface="Space Grotesk"/>
              </a:rPr>
              <a:t>Actionable Management Decisions</a:t>
            </a:r>
            <a:endParaRPr/>
          </a:p>
        </p:txBody>
      </p:sp>
      <p:sp>
        <p:nvSpPr>
          <p:cNvPr id="311" name="Google Shape;311;p23"/>
          <p:cNvSpPr txBox="1"/>
          <p:nvPr/>
        </p:nvSpPr>
        <p:spPr>
          <a:xfrm>
            <a:off x="6410325" y="4467225"/>
            <a:ext cx="475297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Translates metrics into actionable recruitment, squad planning, and competitive benchmarking strategies.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221"/>
        </a:solidFill>
        <a:effectLst/>
      </p:bgPr>
    </p:bg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4"/>
          <p:cNvSpPr/>
          <p:nvPr/>
        </p:nvSpPr>
        <p:spPr>
          <a:xfrm>
            <a:off x="4395787" y="1916459"/>
            <a:ext cx="3400425" cy="285750"/>
          </a:xfrm>
          <a:prstGeom prst="roundRect">
            <a:avLst>
              <a:gd name="adj" fmla="val 50000"/>
            </a:avLst>
          </a:prstGeom>
          <a:solidFill>
            <a:srgbClr val="0A283F"/>
          </a:solidFill>
          <a:ln w="9525" cap="flat" cmpd="sng">
            <a:solidFill>
              <a:srgbClr val="1745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4"/>
          <p:cNvSpPr txBox="1"/>
          <p:nvPr/>
        </p:nvSpPr>
        <p:spPr>
          <a:xfrm>
            <a:off x="4142184" y="1973609"/>
            <a:ext cx="390763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PROJECT COMPLETE • FIFA 2026 ANALYTICS</a:t>
            </a:r>
            <a:endParaRPr/>
          </a:p>
        </p:txBody>
      </p:sp>
      <p:sp>
        <p:nvSpPr>
          <p:cNvPr id="322" name="Google Shape;322;p24"/>
          <p:cNvSpPr txBox="1"/>
          <p:nvPr/>
        </p:nvSpPr>
        <p:spPr>
          <a:xfrm>
            <a:off x="1520427" y="2562587"/>
            <a:ext cx="9151143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FIFA 2026 End-to-End Analytics</a:t>
            </a:r>
            <a:endParaRPr dirty="0"/>
          </a:p>
        </p:txBody>
      </p:sp>
      <p:sp>
        <p:nvSpPr>
          <p:cNvPr id="324" name="Google Shape;324;p24"/>
          <p:cNvSpPr txBox="1"/>
          <p:nvPr/>
        </p:nvSpPr>
        <p:spPr>
          <a:xfrm>
            <a:off x="1928812" y="3583334"/>
            <a:ext cx="83343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"Converting raw football performance data into actionable player, club, and positional management insights through SQL, Python, and Power BI."</a:t>
            </a:r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0E6E417-D122-DAA0-69F0-CE9212DDF6F0}"/>
              </a:ext>
            </a:extLst>
          </p:cNvPr>
          <p:cNvSpPr/>
          <p:nvPr/>
        </p:nvSpPr>
        <p:spPr>
          <a:xfrm>
            <a:off x="3518773" y="4549442"/>
            <a:ext cx="4863225" cy="9233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54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Thank you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1056</Words>
  <Application>Microsoft Office PowerPoint</Application>
  <PresentationFormat>Widescreen</PresentationFormat>
  <Paragraphs>107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Calibri</vt:lpstr>
      <vt:lpstr>Space Grotesk</vt:lpstr>
      <vt:lpstr>Plus Jakarta Sans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Rasika</dc:creator>
  <cp:lastModifiedBy>Rasika</cp:lastModifiedBy>
  <cp:revision>1</cp:revision>
  <dcterms:modified xsi:type="dcterms:W3CDTF">2026-09-24T15:22:50Z</dcterms:modified>
</cp:coreProperties>
</file>